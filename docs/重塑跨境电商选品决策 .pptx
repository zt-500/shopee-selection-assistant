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大家好，今天我们非常荣幸能与各位专家交流。我们带来的项目，是关于如何利用AI技术，彻底改变跨境电商的选品决策方式。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我们将展示一个以AI对话为核心的集成选品平台，它的目标很简单：让选品更简单，让决策更智能。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请允许我用一页总结我们项目的核心。我们发现，当前市场的选品工具存在明显短板，要么太复杂，要么太肤浅。我们的解决方案，就是打造一个AI驱动的一体化平台，让用户通过简单的对话就能完成专业的选品分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首先来看市场。跨境电商是一个仍在高速增长的万亿级赛道。但我们必须看到，市场的玩法已经变了。过去那种野蛮生长、低价铺货的时代已经过去，现在是精耕细作的时代。竞争的核心已经转向产品创新和品牌价值，而AI，正是实现这一转变的关键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在这样的市场背景下，卖家们使用的工具却陷入了两难。一方面，像Helium 10这样的专业工具，功能强大但极其复杂，新手望而却步。另一方面，通用AI虽然好用，但缺乏电商领域的专业数据和分析能力。这种体验上的断裂，正是我们看到的核心机会。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破局之道，就是打造一个AI驱动的一体化平台。想象一下，用户不再需要学习复杂的软件，只需通过对话，就能完成所有选品任务。这不仅能极大地降低学习成本，提升效率，更能将专业的数据分析能力赋能给每一位卖家。我们的愿景，就是成为跨境电商领域的“AI大脑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想法并非凭空而来。我们团队在AI应用领域已有成功经验。我们曾打造了金融产品「链问」，它通过AI对话，将复杂的金融分析变得简单。现在，我们计划将这套被验证成功的产品理念，迁移到电商领域，用同样的逻辑，解决电商卖家的痛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产品将提供一个统一的AI对话入口。用户可以用大白话提出需求，比如“帮我找增长最快的露营灯”，AI就能完成一系列复杂的分析。后台集成了市场洞察、关键词挖掘、竞品监控、利润计算等所有核心功能，并通过一个Chrome插件，让用户在浏览电商网站时就能看到分析数据，实现无缝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支撑这一切的，是我们精心设计的技术架构。我们采用了分层解耦的设计，从数据采集到前端展示，每一层都选用了业界成熟且高性能的技术。特别是我们使用ClickHouse来处理海量数据分析，确保了秒级查询的性能。这套架构不仅稳定可靠，而且具备良好的扩展性，为未来接入更多平台打下了坚实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们深入看几个核心模块。首先是数据采集与产品库，我们通过API加爬虫的策略，高效且低成本地构建了核心数据底座。其次是关键词分析与竞品监控模块，它能帮助用户找到高价值的搜索词，并实时追踪竞品动态，让用户知己知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核心模块，也是我们的差异化优势所在，就是利润计算器和Chrome插件。利润计算器能帮助用户精确核算成本。而Chrome插件则能在用户浏览亚马逊页面时，实时显示我们分析出的销量、收入等关键数据，真正实现“所见即所得”的无缝分析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商业模式清晰且可持续。我们将采用SaaS订阅模式，并设计了不同层级的服务，从免费的基础版到面向大型企业的企业版，以满足不同用户的需求。这种灵活的模式，让用户可以根据自己的阶段和需求，选择最适合自己的服务，实现价值最大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对项目的开发有清晰的路线图。我们将采用敏捷开发模式，首先在4到6周内推出MVP版本，快速验证核心价值。随后，我们将分阶段深化功能、扩展平台，并最终构建完整的商业化SaaS体系。每一步都有明确的目标和交付物，确保项目稳步推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9.jpe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22.jpe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1.jpeg" Type="http://schemas.openxmlformats.org/officeDocument/2006/relationships/image"/><Relationship Id="rId4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9.sv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13" Target="../media/image40.png" Type="http://schemas.openxmlformats.org/officeDocument/2006/relationships/image"/><Relationship Id="rId14" Target="../media/image41.svg" Type="http://schemas.openxmlformats.org/officeDocument/2006/relationships/image"/><Relationship Id="rId15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42.jpe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51.jpeg" Type="http://schemas.openxmlformats.org/officeDocument/2006/relationships/image"/><Relationship Id="rId8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7.svg" Type="http://schemas.openxmlformats.org/officeDocument/2006/relationships/image"/><Relationship Id="rId11" Target="../media/image58.png" Type="http://schemas.openxmlformats.org/officeDocument/2006/relationships/image"/><Relationship Id="rId12" Target="../media/image59.svg" Type="http://schemas.openxmlformats.org/officeDocument/2006/relationships/image"/><Relationship Id="rId13" Target="../notesSlides/notesSlide11.xml" Type="http://schemas.openxmlformats.org/officeDocument/2006/relationships/notesSlide"/><Relationship Id="rId2" Target="../media/image2.jpe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54.png" Type="http://schemas.openxmlformats.org/officeDocument/2006/relationships/image"/><Relationship Id="rId6" Target="../media/image55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60.png" Type="http://schemas.openxmlformats.org/officeDocument/2006/relationships/image"/><Relationship Id="rId4" Target="../media/image61.svg" Type="http://schemas.openxmlformats.org/officeDocument/2006/relationships/image"/><Relationship Id="rId5" Target="../media/image62.png" Type="http://schemas.openxmlformats.org/officeDocument/2006/relationships/image"/><Relationship Id="rId6" Target="../media/image63.svg" Type="http://schemas.openxmlformats.org/officeDocument/2006/relationships/image"/><Relationship Id="rId7" Target="../notesSlides/notesSlide12.xml" Type="http://schemas.openxmlformats.org/officeDocument/2006/relationships/notesSlide"/><Relationship Id="rId8" Target="../media/image6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由AI驱动的跨境电商选品分析平台</a:t>
            </a:r>
            <a:endParaRPr lang="en-US" sz="1100"/>
          </a:p>
          <a:p>
            <a:pPr algn="l" indent="0">
              <a:lnSpc>
                <a:spcPct val="125000"/>
              </a:lnSpc>
            </a:pP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42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重塑跨境电商选品决策</a:t>
            </a:r>
            <a:endParaRPr lang="en-US" sz="1100"/>
          </a:p>
          <a:p>
            <a:pPr algn="l" indent="0">
              <a:lnSpc>
                <a:spcPct val="125000"/>
              </a:lnSpc>
            </a:pP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886200"/>
            <a:ext cx="1270000" cy="50800"/>
          </a:xfrm>
          <a:prstGeom prst="roundRect">
            <a:avLst>
              <a:gd name="adj" fmla="val 0"/>
            </a:avLst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826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 spc="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让选品更简单，让决策更智能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6515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2026年4月 · 技术演示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执行摘要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193800"/>
            <a:ext cx="10541000" cy="1308100"/>
          </a:xfrm>
          <a:prstGeom prst="roundRect">
            <a:avLst>
              <a:gd name="adj" fmla="val 1165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422400"/>
            <a:ext cx="76200" cy="304800"/>
          </a:xfrm>
          <a:prstGeom prst="roundRect">
            <a:avLst>
              <a:gd name="adj" fmla="val 0"/>
            </a:avLst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371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市场痛点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854200"/>
            <a:ext cx="9982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当前跨境电商选品工具陷入两难：专业工具功能臃肿、学习曲线陡峭；通用AI大模型缺乏行业深度，无法支撑数据驱动决策。卖家被迫在多软件间切换，效率低下。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5003800"/>
            <a:ext cx="10541000" cy="1308100"/>
          </a:xfrm>
          <a:prstGeom prst="roundRect">
            <a:avLst>
              <a:gd name="adj" fmla="val 1165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5143500"/>
            <a:ext cx="76200" cy="304800"/>
          </a:xfrm>
          <a:prstGeom prst="roundRect">
            <a:avLst>
              <a:gd name="adj" fmla="val 0"/>
            </a:avLst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5080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562600"/>
            <a:ext cx="9982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借鉴金融AI产品「链问」经验，打造以AI对话为核心的集成选品平台。通过自然语言交互，用户可一站式完成市场分析、竞品监控、关键词研究和利润计算，大幅降低学习成本。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2768600"/>
            <a:ext cx="10541000" cy="1981200"/>
          </a:xfrm>
          <a:prstGeom prst="roundRect">
            <a:avLst>
              <a:gd name="adj" fmla="val 7692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2933700"/>
            <a:ext cx="76200" cy="304800"/>
          </a:xfrm>
          <a:prstGeom prst="roundRect">
            <a:avLst>
              <a:gd name="adj" fmla="val 0"/>
            </a:avLst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28702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398342" y="33782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816100" y="33401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极致体验：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AI对话式交互，告别复杂菜单，即问即答。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398342" y="37973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816100" y="3746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数据驱动：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基于强大的数据采集与分析架构，提供精准洞察。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398342" y="42545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816100" y="42418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技术验证：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成熟架构与清晰MVP路径，确保项目可行性。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跨境电商：从野蛮生长到精耕细作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065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0D9488">
              <a:alpha val="10000"/>
            </a:srgbClr>
          </a:solidFill>
          <a:ln w="12700" cmpd="sng" cap="flat">
            <a:solidFill>
              <a:srgbClr val="0D948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3716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核心观点：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市场规模持续扩大，但竞争范式已发生根本性转变，行业正式进入“精耕细作”时代。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762000" cy="762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2032000" y="2222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 全球市场规模预测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032000" y="26035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$50,000亿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(美元)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2032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286000"/>
            <a:ext cx="762000" cy="762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493000" y="2222500"/>
            <a:ext cx="368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 中国进出口交易额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493000" y="26035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3.8万亿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(RMB | CAGR 16.5%)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683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937000"/>
            <a:ext cx="457200" cy="457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651000" y="4000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告别粗放 · 增速放缓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626" flipH="false" flipV="false">
            <a:off x="1016014" y="4565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1016000" y="4762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依靠“铺货+低价”的野蛮生长模式失效。2025年全球电商增速放缓至8.8%，标志着行业进入高质量发展的“精耕”阶段。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445000" y="3683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4699000" y="3937000"/>
            <a:ext cx="457200" cy="457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334000" y="4000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竞争升级 · 价值驱动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5626" flipH="false" flipV="false">
            <a:off x="4699014" y="4565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4699000" y="4762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核心优势从价格转向产品创新与品牌价值。数据显示，2025年亚马逊新品销售额贡献占比已达40%，好产品+好品牌构建护城河。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28000" y="3683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382000" y="3937000"/>
            <a:ext cx="457200" cy="4572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9017000" y="4000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AI重构 · 效率为王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15626" flipH="false" flipV="false">
            <a:off x="8382014" y="4565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8382000" y="4762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AI不再是概念，而是提升效率的核心工具。从智能选品、自动广告到AI客服，全链路重构，不会利用AI的卖家正在被市场淘汰。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选品工具的“重”与“轻”：用户体验的断裂带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143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核心观点：当前市场上的工具无法同时满足跨境卖家对“极致高效”与“行业专业”的双重核心需求。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14500"/>
            <a:ext cx="4572000" cy="3683000"/>
          </a:xfrm>
          <a:prstGeom prst="roundRect">
            <a:avLst>
              <a:gd name="adj" fmla="val 413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63500" blurRad="254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14302" r="14302" t="0" b="0"/>
          <a:stretch>
            <a:fillRect/>
          </a:stretch>
        </p:blipFill>
        <p:spPr>
          <a:xfrm rot="0" flipH="false" flipV="false">
            <a:off x="952500" y="1905000"/>
            <a:ext cx="4191000" cy="3302000"/>
          </a:xfrm>
          <a:prstGeom prst="roundRect">
            <a:avLst>
              <a:gd name="adj" fmla="val 3076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5588000" y="1714500"/>
            <a:ext cx="5842000" cy="17145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778500" y="19050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ECFD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930900" y="20574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731000" y="1905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专业工具的「沉重」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731000" y="23495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代表工具：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Helium 10, 知虾数据, Jungle Scout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731000" y="2667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痛点：功能极度复杂，学习曲线陡峭；操作步骤繁琐，信息呈现过载，导致新手用户的使用门槛极高。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588000" y="3683000"/>
            <a:ext cx="5842000" cy="17145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778500" y="38735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ECFD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930900" y="40259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731000" y="3873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通用AI的「轻飘」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31000" y="43180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代表工具：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千问、豆包、ChatGPT等通用大模型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31000" y="46355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痛点：缺乏垂直领域的行业深度数据支撑，无法执行复杂的选品分析任务，且生成的信息存在滞后性。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588000"/>
            <a:ext cx="10668000" cy="889000"/>
          </a:xfrm>
          <a:prstGeom prst="roundRect">
            <a:avLst>
              <a:gd name="adj" fmla="val 22857"/>
            </a:avLst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63500" blurRad="190500" algn="tl" rotWithShape="false">
              <a:srgbClr val="0D9488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689600"/>
            <a:ext cx="10668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市场迫切需要一个</a:t>
            </a: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“既简单易用，又具备专业深度”</a:t>
            </a:r>
            <a:r>
              <a:rPr lang="en-US" b="false" i="false" strike="noStrike" u="none" sz="15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的新一代智能选品工具。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破局之道：AI驱动的一体化智能选品平台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21875" r="21875" t="0" b="0"/>
          <a:stretch>
            <a:fillRect/>
          </a:stretch>
        </p:blipFill>
        <p:spPr>
          <a:xfrm rot="0" flipH="false" flipV="false">
            <a:off x="762000" y="1397000"/>
            <a:ext cx="4826000" cy="4826000"/>
          </a:xfrm>
          <a:prstGeom prst="roundRect">
            <a:avLst>
              <a:gd name="adj" fmla="val 4210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76200" blurRad="203200" algn="tl" rotWithShape="false">
              <a:srgbClr val="000000">
                <a:alpha val="12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5842000" y="1397000"/>
            <a:ext cx="5334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096000" y="16256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6794500" y="15494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核心观点：All-in-One 智能体验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794500" y="1930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将AI对话作为统一入口，深度整合所有选品功能，让复杂的数据操作转化为自然流畅的人机交互。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42000" y="2730500"/>
            <a:ext cx="5334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096000" y="29591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794500" y="2882900"/>
            <a:ext cx="419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降低认知负荷，零门槛操作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794500" y="32258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用自然语言替代复杂UI，用户如同与行业专家对话，即可轻松完成深度选品分析。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842000" y="3937000"/>
            <a:ext cx="5334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096000" y="41656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794500" y="4089400"/>
            <a:ext cx="419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无缝集成，提升决策效率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794500" y="44323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整合市场分析、竞品监控、利润计算等全流程功能，告别多软件切换的碎片化工作流。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842000" y="5143500"/>
            <a:ext cx="5334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096000" y="5372100"/>
            <a:ext cx="508000" cy="508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794500" y="5295900"/>
            <a:ext cx="419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普惠赋能，共享数据红利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794500" y="56388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将专业的选品方法论工具化，让中小卖家和新手也能低成本享受数据驱动决策的价值。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成功经验迁移：从金融AI到电商AI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5207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19393" r="19393" t="0" b="0"/>
          <a:stretch>
            <a:fillRect/>
          </a:stretch>
        </p:blipFill>
        <p:spPr>
          <a:xfrm rot="0" flipH="false" flipV="false">
            <a:off x="1016000" y="1651000"/>
            <a:ext cx="4699000" cy="4318000"/>
          </a:xfrm>
          <a:prstGeom prst="roundRect">
            <a:avLst>
              <a:gd name="adj" fmla="val 3529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6223000" y="1397000"/>
            <a:ext cx="5207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397000"/>
            <a:ext cx="5207000" cy="76200"/>
          </a:xfrm>
          <a:prstGeom prst="roundRect">
            <a:avLst>
              <a:gd name="adj" fmla="val 0"/>
            </a:avLst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77000" y="16764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我们的过往：链问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2159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曾成功开发金融领域AI集成产品「链问」，整合资讯与行情。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以AI对话为统一入口，重塑复杂金融信息的获取方式。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极大降低用户学习成本，助力实现高效、科学的交易决策。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3937000"/>
            <a:ext cx="5207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3937000"/>
            <a:ext cx="5207000" cy="76200"/>
          </a:xfrm>
          <a:prstGeom prst="roundRect">
            <a:avLst>
              <a:gd name="adj" fmla="val 0"/>
            </a:avLst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42164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产品理念迁移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46990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将「链问」验证成功的AI对话集成理念迁移至电商领域，致力于打造核心选品平台，精准解决市场痛点。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5461000"/>
            <a:ext cx="4699000" cy="558800"/>
          </a:xfrm>
          <a:prstGeom prst="roundRect">
            <a:avLst>
              <a:gd name="adj" fmla="val 18181"/>
            </a:avLst>
          </a:prstGeom>
          <a:solidFill>
            <a:srgbClr val="0D9488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55626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核心逻辑：AI 智能对话层 + 强大的后端数据与分析引擎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产品功能概览：一站式智能选品平台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3810000" cy="4826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254000" algn="tl" rotWithShape="false">
              <a:srgbClr val="0D9488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1778000"/>
            <a:ext cx="812800" cy="812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79500" y="2794000"/>
            <a:ext cx="317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核心交互：AI 对话界面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79500" y="3556000"/>
            <a:ext cx="3175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用户输入自然语言指令，系统自动解析并执行复杂的选品任务。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例：“帮我找亚马逊上最近销量增长最快的户外露营灯”、“分析ASIN B08XXXXXXX的竞品与利润”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953000" y="1397000"/>
            <a:ext cx="3175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207000" y="16510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969000" y="16510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市场趋势洞察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969000" y="20955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识别平台热销品类、市场增长趋势与潜在蓝海机会。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953000" y="3111500"/>
            <a:ext cx="3175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207000" y="33655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969000" y="33655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精准关键词挖掘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969000" y="3810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挖掘高价值长尾词，深度分析搜索量、点击率与市场竞争度。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953000" y="4826000"/>
            <a:ext cx="3175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5207000" y="5080000"/>
            <a:ext cx="508000" cy="508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5969000" y="50800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Chrome 插件增强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878758" y="5524500"/>
            <a:ext cx="203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站内实时显示增强数据，实现“即看即分析”的无缝体验。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82000" y="1397000"/>
            <a:ext cx="3175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636000" y="1651000"/>
            <a:ext cx="508000" cy="508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398000" y="16510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深度竞品监控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398000" y="20955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全天候追踪竞品价格、BSR排名、评价变动与Listing更新。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82000" y="3111500"/>
            <a:ext cx="3175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636000" y="3365500"/>
            <a:ext cx="508000" cy="508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9398000" y="33655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实时利润计算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398000" y="3810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自动集成采购成本、头程物流、佣金等，秒级算出真实利润。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技术架构亮点：为性能与扩展性而生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27796" r="27796" t="0" b="0"/>
          <a:stretch>
            <a:fillRect/>
          </a:stretch>
        </p:blipFill>
        <p:spPr>
          <a:xfrm rot="0" flipH="false" flipV="false">
            <a:off x="762000" y="1397000"/>
            <a:ext cx="3810000" cy="4826000"/>
          </a:xfrm>
          <a:prstGeom prst="roundRect">
            <a:avLst>
              <a:gd name="adj" fmla="val 5333"/>
            </a:avLst>
          </a:prstGeom>
          <a:noFill/>
          <a:ln w="25400" cmpd="sng" cap="flat">
            <a:noFill/>
            <a:prstDash val="solid"/>
            <a:round/>
          </a:ln>
          <a:effectLst>
            <a:outerShdw dir="5400000" dist="50800" blurRad="203200" algn="tl" rotWithShape="false">
              <a:srgbClr val="000000">
                <a:alpha val="12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4826000" y="1397000"/>
            <a:ext cx="6604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96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0" y="1587500"/>
            <a:ext cx="609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总体架构：分层解耦的稳定底座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0" y="2032000"/>
            <a:ext cx="609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采用经典分层设计，确保系统在数据采集、调度、存储到展示的全链路稳定性与高扩展性。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0" y="2540000"/>
            <a:ext cx="1905000" cy="825500"/>
          </a:xfrm>
          <a:prstGeom prst="roundRect">
            <a:avLst>
              <a:gd name="adj" fmla="val 12307"/>
            </a:avLst>
          </a:prstGeom>
          <a:solidFill>
            <a:srgbClr val="ECFE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0" y="2540000"/>
            <a:ext cx="50800" cy="825500"/>
          </a:xfrm>
          <a:prstGeom prst="roundRect">
            <a:avLst>
              <a:gd name="adj" fmla="val 0"/>
            </a:avLst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232400" y="2603500"/>
            <a:ext cx="1714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数据采集层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232400" y="29210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Scrapy + Playwright</a:t>
            </a:r>
            <a:r>
              <a:rPr lang="en-US" b="false" i="false" strike="noStrike" u="none" sz="9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9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9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爬虫+API 双路线策略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112000" y="2540000"/>
            <a:ext cx="1905000" cy="825500"/>
          </a:xfrm>
          <a:prstGeom prst="roundRect">
            <a:avLst>
              <a:gd name="adj" fmla="val 12307"/>
            </a:avLst>
          </a:prstGeom>
          <a:solidFill>
            <a:srgbClr val="ECFE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112000" y="2540000"/>
            <a:ext cx="50800" cy="825500"/>
          </a:xfrm>
          <a:prstGeom prst="roundRect">
            <a:avLst>
              <a:gd name="adj" fmla="val 0"/>
            </a:avLst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264400" y="2603500"/>
            <a:ext cx="1714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任务调度层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264400" y="29210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Celery + Redis</a:t>
            </a:r>
            <a:r>
              <a:rPr lang="en-US" b="false" i="false" strike="noStrike" u="none" sz="9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9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9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异步队列与定时任务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144000" y="2540000"/>
            <a:ext cx="1905000" cy="825500"/>
          </a:xfrm>
          <a:prstGeom prst="roundRect">
            <a:avLst>
              <a:gd name="adj" fmla="val 12307"/>
            </a:avLst>
          </a:prstGeom>
          <a:solidFill>
            <a:srgbClr val="ECFE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144000" y="2540000"/>
            <a:ext cx="50800" cy="825500"/>
          </a:xfrm>
          <a:prstGeom prst="roundRect">
            <a:avLst>
              <a:gd name="adj" fmla="val 0"/>
            </a:avLst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296400" y="2603500"/>
            <a:ext cx="1714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数据存储层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296400" y="29210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PG + ClickHouse</a:t>
            </a:r>
            <a:r>
              <a:rPr lang="en-US" b="false" i="false" strike="noStrike" u="none" sz="9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9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9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业务与分析数据分离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080000" y="3492500"/>
            <a:ext cx="2921000" cy="635000"/>
          </a:xfrm>
          <a:prstGeom prst="roundRect">
            <a:avLst>
              <a:gd name="adj" fmla="val 16000"/>
            </a:avLst>
          </a:prstGeom>
          <a:solidFill>
            <a:srgbClr val="F0FD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080000" y="3492500"/>
            <a:ext cx="50800" cy="635000"/>
          </a:xfrm>
          <a:prstGeom prst="roundRect">
            <a:avLst>
              <a:gd name="adj" fmla="val 0"/>
            </a:avLst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232400" y="3556000"/>
            <a:ext cx="2730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服务接口层：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Spring Boot 提供高性能 RESTful API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3492500"/>
            <a:ext cx="2921000" cy="635000"/>
          </a:xfrm>
          <a:prstGeom prst="roundRect">
            <a:avLst>
              <a:gd name="adj" fmla="val 16000"/>
            </a:avLst>
          </a:prstGeom>
          <a:solidFill>
            <a:srgbClr val="F0FD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28000" y="3492500"/>
            <a:ext cx="50800" cy="635000"/>
          </a:xfrm>
          <a:prstGeom prst="roundRect">
            <a:avLst>
              <a:gd name="adj" fmla="val 0"/>
            </a:avLst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280400" y="3556000"/>
            <a:ext cx="2730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展示交互层：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Vue 3 + Chrome Extension 现代化体验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826000" y="4445000"/>
            <a:ext cx="6604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6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080000" y="4572000"/>
            <a:ext cx="609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核心技术优势：高性能 · 易扩展 · 低成本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5080000" y="5016500"/>
            <a:ext cx="1905000" cy="1079500"/>
          </a:xfrm>
          <a:prstGeom prst="roundRect">
            <a:avLst>
              <a:gd name="adj" fmla="val 9411"/>
            </a:avLst>
          </a:prstGeom>
          <a:solidFill>
            <a:srgbClr val="F0FDFA">
              <a:alpha val="100000"/>
            </a:srgbClr>
          </a:solidFill>
          <a:ln w="12700" cmpd="sng" cap="flat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207000" y="5143500"/>
            <a:ext cx="304800" cy="3048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5588000" y="51435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极致性能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207000" y="55245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ClickHouse 支撑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亿级数据秒级查询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112000" y="5016500"/>
            <a:ext cx="1905000" cy="1079500"/>
          </a:xfrm>
          <a:prstGeom prst="roundRect">
            <a:avLst>
              <a:gd name="adj" fmla="val 9411"/>
            </a:avLst>
          </a:prstGeom>
          <a:solidFill>
            <a:srgbClr val="F0FDFA">
              <a:alpha val="100000"/>
            </a:srgbClr>
          </a:solidFill>
          <a:ln w="12700" cmpd="sng" cap="flat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239000" y="5143500"/>
            <a:ext cx="304800" cy="3048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7620000" y="51435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弹性扩展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239000" y="55245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模块化架构设计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快速接入新数据源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144000" y="5016500"/>
            <a:ext cx="1905000" cy="1079500"/>
          </a:xfrm>
          <a:prstGeom prst="roundRect">
            <a:avLst>
              <a:gd name="adj" fmla="val 9411"/>
            </a:avLst>
          </a:prstGeom>
          <a:solidFill>
            <a:srgbClr val="F0FDFA">
              <a:alpha val="100000"/>
            </a:srgbClr>
          </a:solidFill>
          <a:ln w="12700" cmpd="sng" cap="flat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271000" y="5143500"/>
            <a:ext cx="304800" cy="304800"/>
          </a:xfrm>
          <a:prstGeom prst="rect">
            <a:avLst/>
          </a:prstGeom>
        </p:spPr>
      </p:pic>
      <p:sp>
        <p:nvSpPr>
          <p:cNvPr name="AutoShape 38" id="38"/>
          <p:cNvSpPr/>
          <p:nvPr/>
        </p:nvSpPr>
        <p:spPr>
          <a:xfrm rot="0" flipH="false" flipV="false">
            <a:off x="9652000" y="51435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成本优化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271000" y="55245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智能调度爬虫与API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显著降低运营成本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核心模块展示 (1/2)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5207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17145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905000" y="17780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数据采集与产品库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4699000" cy="1397000"/>
          </a:xfrm>
          <a:prstGeom prst="roundRect">
            <a:avLst>
              <a:gd name="adj" fmla="val 10909"/>
            </a:avLst>
          </a:prstGeom>
          <a:solidFill>
            <a:srgbClr val="F0FD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28575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F766E"/>
                </a:solidFill>
                <a:latin typeface="Noto Sans SC"/>
                <a:ea typeface="Noto Sans SC"/>
                <a:cs typeface="Noto Sans SC"/>
                <a:sym typeface="Noto Sans SC"/>
              </a:rPr>
              <a:t>▎双路线采集策略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33020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针对Amazon平台特性，采用「官方API + 智能爬虫」并行方案。优先利用爬虫技术获取公开数据，在保证数据完整性的同时，有效降低企业的采集成本。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318000"/>
            <a:ext cx="4699000" cy="1397000"/>
          </a:xfrm>
          <a:prstGeom prst="roundRect">
            <a:avLst>
              <a:gd name="adj" fmla="val 10909"/>
            </a:avLst>
          </a:prstGeom>
          <a:solidFill>
            <a:srgbClr val="F0FD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70000" y="45085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F766E"/>
                </a:solidFill>
                <a:latin typeface="Noto Sans SC"/>
                <a:ea typeface="Noto Sans SC"/>
                <a:cs typeface="Noto Sans SC"/>
                <a:sym typeface="Noto Sans SC"/>
              </a:rPr>
              <a:t>▎多维结构化产品库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49530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构建覆盖产品基本信息、历史销售数据、核心竞争指标的核心数据底座。支持按类目、价格区间、销量等多维度进行灵活筛选与深度数据洞察。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397000"/>
            <a:ext cx="5207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17145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366000" y="17780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关键词分析与竞品监控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2667000"/>
            <a:ext cx="4699000" cy="1397000"/>
          </a:xfrm>
          <a:prstGeom prst="roundRect">
            <a:avLst>
              <a:gd name="adj" fmla="val 10909"/>
            </a:avLst>
          </a:prstGeom>
          <a:solidFill>
            <a:srgbClr val="F0FD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31000" y="28575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F766E"/>
                </a:solidFill>
                <a:latin typeface="Noto Sans SC"/>
                <a:ea typeface="Noto Sans SC"/>
                <a:cs typeface="Noto Sans SC"/>
                <a:sym typeface="Noto Sans SC"/>
              </a:rPr>
              <a:t>▎高价值关键词挖掘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31000" y="33020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自动从搜索建议、竞品Listing标题与描述中提取长尾词，并基于搜索热度、市场竞争度等维度建立智能评分模型，辅助运营进行科学的选词决策。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4318000"/>
            <a:ext cx="4699000" cy="1397000"/>
          </a:xfrm>
          <a:prstGeom prst="roundRect">
            <a:avLst>
              <a:gd name="adj" fmla="val 10909"/>
            </a:avLst>
          </a:prstGeom>
          <a:solidFill>
            <a:srgbClr val="F0FD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731000" y="45085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F766E"/>
                </a:solidFill>
                <a:latin typeface="Noto Sans SC"/>
                <a:ea typeface="Noto Sans SC"/>
                <a:cs typeface="Noto Sans SC"/>
                <a:sym typeface="Noto Sans SC"/>
              </a:rPr>
              <a:t>▎竞品动态实时追踪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731000" y="49530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支持用户添加目标竞品ASIN，系统自动定时追踪其价格波动、销量变化及评价趋势，生成可视化对比报告，并第一时间推送异常变动提醒。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核心模块展示 (2/2)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5080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14500"/>
            <a:ext cx="812800" cy="812800"/>
          </a:xfrm>
          <a:prstGeom prst="ellipse">
            <a:avLst/>
          </a:prstGeom>
          <a:solidFill>
            <a:srgbClr val="0D9488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19200" y="19177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032000" y="1714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利润计算器 · 成本精算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032000" y="2222500"/>
            <a:ext cx="342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深度集成FBA物流费用计算与多币种实时汇率转换功能，帮助用户一键拆解成本结构，清晰了解产品的真实利润空间。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683000"/>
            <a:ext cx="5080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000500"/>
            <a:ext cx="812800" cy="812800"/>
          </a:xfrm>
          <a:prstGeom prst="ellipse">
            <a:avLst/>
          </a:prstGeom>
          <a:solidFill>
            <a:srgbClr val="0D9488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219200" y="42037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2032000" y="4000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Chrome插件 · 所见即所得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032000" y="4508500"/>
            <a:ext cx="342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在亚马逊搜索页与详情页直接注入销量估算、收入预测及BSR历史趋势曲线。无需切换页面，即可获取全维度的竞品分析数据。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rcRect l="17187" r="17187" t="0" b="0"/>
          <a:stretch>
            <a:fillRect/>
          </a:stretch>
        </p:blipFill>
        <p:spPr>
          <a:xfrm rot="0" flipH="false" flipV="false">
            <a:off x="6096000" y="1397000"/>
            <a:ext cx="5334000" cy="4572000"/>
          </a:xfrm>
          <a:prstGeom prst="roundRect">
            <a:avLst>
              <a:gd name="adj" fmla="val 4444"/>
            </a:avLst>
          </a:prstGeom>
          <a:noFill/>
          <a:ln w="25400" cmpd="sng" cap="flat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dir="2700000" dist="76200" blurRad="304800" algn="tl" rotWithShape="false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清晰的商业模式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10668000" cy="762000"/>
          </a:xfrm>
          <a:prstGeom prst="roundRect">
            <a:avLst>
              <a:gd name="adj" fmla="val 20000"/>
            </a:avLst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D9488">
                <a:alpha val="4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4478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1447800"/>
            <a:ext cx="9525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核心模式：基于 SaaS 的订阅服务模式，灵活适配个人、团队及大型企业的不同发展阶段需求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286000"/>
            <a:ext cx="3302000" cy="24130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540000"/>
            <a:ext cx="711200" cy="711200"/>
          </a:xfrm>
          <a:prstGeom prst="ellipse">
            <a:avLst/>
          </a:prstGeom>
          <a:solidFill>
            <a:srgbClr val="0D9488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68400" y="26924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905000" y="2641600"/>
            <a:ext cx="190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基础版 Basic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626" flipH="false" flipV="false">
            <a:off x="1016014" y="3422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1016000" y="3683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面向个人卖家和新手用户。提供基础的产品库查询与关键词趋势分析功能，低门槛上手。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2286000"/>
            <a:ext cx="3302000" cy="24130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2540000"/>
            <a:ext cx="711200" cy="711200"/>
          </a:xfrm>
          <a:prstGeom prst="ellipse">
            <a:avLst/>
          </a:prstGeom>
          <a:solidFill>
            <a:srgbClr val="0D9488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851400" y="26924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588000" y="2641600"/>
            <a:ext cx="190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专业版 Pro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626" flipH="false" flipV="false">
            <a:off x="4699014" y="3422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4699000" y="3683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面向专业运营卖家和核心团队。提供深度竞品监控、历史数据回溯及高级多维筛选功能。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2286000"/>
            <a:ext cx="3302000" cy="24130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82000" y="2540000"/>
            <a:ext cx="711200" cy="711200"/>
          </a:xfrm>
          <a:prstGeom prst="ellipse">
            <a:avLst/>
          </a:prstGeom>
          <a:solidFill>
            <a:srgbClr val="0D9488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534400" y="26924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271000" y="2641600"/>
            <a:ext cx="190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企业版 Enterprise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5626" flipH="false" flipV="false">
            <a:off x="8382014" y="3422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8382000" y="3683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面向大型跨境电商卖家。提供多租户管理、API开放平台接入及定制化数据看板服务。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0165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F0FDFA">
              <a:alpha val="95000"/>
            </a:srgbClr>
          </a:solidFill>
          <a:ln w="12700" cmpd="sng" cap="flat">
            <a:solidFill>
              <a:srgbClr val="0D948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257800"/>
            <a:ext cx="635000" cy="6350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1905000" y="5207000"/>
            <a:ext cx="927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价值主张：按需付费，精准匹配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用户只为自己当前阶段需要的功能和数据深度付费，拒绝“一刀切”，实现企业运营成本与服务价值的最佳匹配。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清晰的发展路线图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10668000" cy="762000"/>
          </a:xfrm>
          <a:prstGeom prst="roundRect">
            <a:avLst>
              <a:gd name="adj" fmla="val 20000"/>
            </a:avLst>
          </a:prstGeom>
          <a:solidFill>
            <a:srgbClr val="0D9488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422400"/>
            <a:ext cx="1016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核心策略：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采用敏捷开发模式，快速验证核心价值，通过四个迭代阶段逐步扩展功能与服务边界。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286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286000"/>
            <a:ext cx="1143000" cy="1651000"/>
          </a:xfrm>
          <a:prstGeom prst="roundRect">
            <a:avLst>
              <a:gd name="adj" fmla="val 13333"/>
            </a:avLst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603500"/>
            <a:ext cx="114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238500"/>
            <a:ext cx="114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MVP阶段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159000" y="24130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第一阶段：快速验证 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59000" y="2857500"/>
            <a:ext cx="203200" cy="203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2476500" y="2832100"/>
            <a:ext cx="330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目标：上线Amazon核心选品功能，跑通基础流程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2159000" y="3302000"/>
            <a:ext cx="203200" cy="203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2476500" y="3181350"/>
            <a:ext cx="330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交付：Web后台管理系统 + Chrome辅助选品插件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2286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2286000"/>
            <a:ext cx="1143000" cy="1651000"/>
          </a:xfrm>
          <a:prstGeom prst="roundRect">
            <a:avLst>
              <a:gd name="adj" fmla="val 13333"/>
            </a:avLst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2603500"/>
            <a:ext cx="114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3238500"/>
            <a:ext cx="114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深化阶段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0" y="24130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第二阶段：功能完善 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0" y="2857500"/>
            <a:ext cx="203200" cy="203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937500" y="2832100"/>
            <a:ext cx="330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目标：完善Amazon平台功能，提升数据洞察深度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0" y="3302000"/>
            <a:ext cx="203200" cy="2032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7937500" y="3276600"/>
            <a:ext cx="330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交付：竞品监控仪表盘、市场趋势分析模块、用户权限系统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4191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4191000"/>
            <a:ext cx="1143000" cy="1651000"/>
          </a:xfrm>
          <a:prstGeom prst="roundRect">
            <a:avLst>
              <a:gd name="adj" fmla="val 13333"/>
            </a:avLst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4508500"/>
            <a:ext cx="114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143500"/>
            <a:ext cx="114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扩展阶段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2159000" y="43180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第三阶段：平台接入 </a:t>
            </a:r>
            <a:endParaRPr lang="en-US" sz="1100"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59000" y="4762500"/>
            <a:ext cx="203200" cy="2032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2476500" y="4737100"/>
            <a:ext cx="330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目标：接入新的电商平台，扩展服务覆盖范围</a:t>
            </a:r>
            <a:endParaRPr lang="en-US" sz="1100"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2159000" y="5207000"/>
            <a:ext cx="203200" cy="2032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2476500" y="5181600"/>
            <a:ext cx="330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交付：Shopee数据源接入、Chrome插件多平台支持扩展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223000" y="4191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223000" y="4191000"/>
            <a:ext cx="1143000" cy="1651000"/>
          </a:xfrm>
          <a:prstGeom prst="roundRect">
            <a:avLst>
              <a:gd name="adj" fmla="val 13333"/>
            </a:avLst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223000" y="4508500"/>
            <a:ext cx="114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223000" y="5143500"/>
            <a:ext cx="114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商业阶段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7620000" y="43180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第四阶段：SaaS体系 </a:t>
            </a:r>
            <a:endParaRPr lang="en-US" sz="1100"/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0" y="4762500"/>
            <a:ext cx="203200" cy="203200"/>
          </a:xfrm>
          <a:prstGeom prst="rect">
            <a:avLst/>
          </a:prstGeom>
        </p:spPr>
      </p:pic>
      <p:sp>
        <p:nvSpPr>
          <p:cNvPr name="AutoShape 39" id="39"/>
          <p:cNvSpPr/>
          <p:nvPr/>
        </p:nvSpPr>
        <p:spPr>
          <a:xfrm rot="0" flipH="false" flipV="false">
            <a:off x="7937500" y="4737100"/>
            <a:ext cx="330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目标：构建完整的SaaS服务体系，实现商业闭环</a:t>
            </a:r>
            <a:endParaRPr lang="en-US" sz="1100"/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0" y="5207000"/>
            <a:ext cx="203200" cy="203200"/>
          </a:xfrm>
          <a:prstGeom prst="rect">
            <a:avLst/>
          </a:prstGeom>
        </p:spPr>
      </p:pic>
      <p:sp>
        <p:nvSpPr>
          <p:cNvPr name="AutoShape 41" id="41"/>
          <p:cNvSpPr/>
          <p:nvPr/>
        </p:nvSpPr>
        <p:spPr>
          <a:xfrm rot="0" flipH="false" flipV="false">
            <a:off x="7937500" y="5080000"/>
            <a:ext cx="330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交付：多租户架构、付费订阅体系、API开放平台接口</a:t>
            </a:r>
            <a:endParaRPr lang="en-US" sz="1100"/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